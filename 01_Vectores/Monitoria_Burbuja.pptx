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Sesión de 60 minutos. La segunda mitad es el ejercicio: dejar al menos 15 minutos para que lo intenten solos.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arrancar, preguntar cómo ordenarían ellos un mazo de cartas en la mano. Casi siempre describen inserción, no burbuja.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nombre viene de la imagen de la burbuja que sube. Vale la pena decirlo: los estudiantes lo recuerdan mejor que el algoritmo.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Hacerlo en vivo con dos vasos y un vaso vacío: es la demostración que siempre funciona.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Pedirles que digan en voz alta cada comparación antes de mostrar la fila siguiente.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conviene escribir el encabezado en el tablero y que ellos dicten el cuerpo línea por línea.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escriben el interno hasta N-1 fijo, el algoritmo igual ordena pero hace comparaciones de más. Salirse del vector, en cambio, es error grave.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observación es la que motiva la versión con bandera de la siguiente lámina. No mostrarla antes.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usa MQ porque hay dos condiciones de salida. Con PARA no se puede cortar antes de tiempo.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concepto nuevo de la sesión. Sin él, el ejercicio no sale.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Repasar esta lista justo antes de entregarles el enunciado.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que lo intenten en parejas. Pasar por los puestos y mirar solo dos cosas: si usaron AUX y si movieron los dos vectores.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promedio va en FUNCION porque devuelve un solo valor. El ordenamiento va en SUBRUTINA porque modifica dos vectores.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 al final por qué el conteo se puede cortar antes: es un buen puente hacia búsqueda con MQ.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recordando los dos límites: N - 1 pasadas afuera, N - I comparaciones adentro.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3520440"/>
            <a:ext cx="310896" cy="457200"/>
          </a:xfrm>
          <a:prstGeom prst="rect">
            <a:avLst/>
          </a:prstGeom>
          <a:solidFill>
            <a:srgbClr val="CADCFC">
              <a:alpha val="55000"/>
            </a:srgbClr>
          </a:solidFill>
          <a:ln w="6350">
            <a:solidFill>
              <a:srgbClr val="3A4A8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36792" y="3200400"/>
            <a:ext cx="310896" cy="777240"/>
          </a:xfrm>
          <a:prstGeom prst="rect">
            <a:avLst/>
          </a:prstGeom>
          <a:solidFill>
            <a:srgbClr val="CADCFC">
              <a:alpha val="55000"/>
            </a:srgbClr>
          </a:solidFill>
          <a:ln w="6350">
            <a:solidFill>
              <a:srgbClr val="3A4A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29984" y="2880360"/>
            <a:ext cx="310896" cy="1097280"/>
          </a:xfrm>
          <a:prstGeom prst="rect">
            <a:avLst/>
          </a:prstGeom>
          <a:solidFill>
            <a:srgbClr val="CADCFC">
              <a:alpha val="55000"/>
            </a:srgbClr>
          </a:solidFill>
          <a:ln w="6350">
            <a:solidFill>
              <a:srgbClr val="3A4A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23176" y="2560320"/>
            <a:ext cx="310896" cy="1417320"/>
          </a:xfrm>
          <a:prstGeom prst="rect">
            <a:avLst/>
          </a:prstGeom>
          <a:solidFill>
            <a:srgbClr val="CADCFC">
              <a:alpha val="55000"/>
            </a:srgbClr>
          </a:solidFill>
          <a:ln w="6350">
            <a:solidFill>
              <a:srgbClr val="3A4A8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16368" y="2240280"/>
            <a:ext cx="310896" cy="1737360"/>
          </a:xfrm>
          <a:prstGeom prst="rect">
            <a:avLst/>
          </a:prstGeom>
          <a:solidFill>
            <a:srgbClr val="CADCFC">
              <a:alpha val="55000"/>
            </a:srgbClr>
          </a:solidFill>
          <a:ln w="6350">
            <a:solidFill>
              <a:srgbClr val="3A4A8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09560" y="1920240"/>
            <a:ext cx="310896" cy="2057400"/>
          </a:xfrm>
          <a:prstGeom prst="rect">
            <a:avLst/>
          </a:prstGeom>
          <a:solidFill>
            <a:srgbClr val="CADCFC">
              <a:alpha val="55000"/>
            </a:srgbClr>
          </a:solidFill>
          <a:ln w="6350">
            <a:solidFill>
              <a:srgbClr val="3A4A8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02752" y="1600200"/>
            <a:ext cx="310896" cy="2377440"/>
          </a:xfrm>
          <a:prstGeom prst="rect">
            <a:avLst/>
          </a:prstGeom>
          <a:solidFill>
            <a:srgbClr val="E8A33D"/>
          </a:solidFill>
          <a:ln w="6350">
            <a:solidFill>
              <a:srgbClr val="3A4A8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95944" y="1280160"/>
            <a:ext cx="310896" cy="2697480"/>
          </a:xfrm>
          <a:prstGeom prst="rect">
            <a:avLst/>
          </a:prstGeom>
          <a:solidFill>
            <a:srgbClr val="E8A33D"/>
          </a:solidFill>
          <a:ln w="6350">
            <a:solidFill>
              <a:srgbClr val="3A4A8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13716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ORDENAMIENTO</a:t>
            </a:r>
            <a:endParaRPr lang="en-US" sz="4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BURBUJA</a:t>
            </a:r>
            <a:endParaRPr lang="en-US" sz="42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7889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vecinos e intercambiar, hasta que todo quede en su sitio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383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Monitoría · Algoritmia y Programación II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3703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A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 · Todo en pseudocódigo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veremos hoy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SESIÓN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33272" y="157276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181965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vecinos, de dos en dos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267004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intercambio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291693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hace falta la variable AUX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79476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" y="376732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pasada completa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33272" y="401421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mayor sube hasta el final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09160" y="160020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91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39512" y="157276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algoritmo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39512" y="181965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N − 1 y por qué N − I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09160" y="269748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0916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239512" y="267004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versión con bandera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239512" y="291693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Parar cuando ya está ordenado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09160" y="379476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0916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239512" y="376732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de la sesión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239512" y="401421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 paralelos y podio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idea es muy simple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VECINOS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566928" cy="56692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46888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69848" y="1874520"/>
            <a:ext cx="566928" cy="56692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69848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246888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36776" y="1874520"/>
            <a:ext cx="566928" cy="566928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36776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36776" y="246888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03704" y="1874520"/>
            <a:ext cx="566928" cy="56692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203704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2203704" y="246888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70632" y="1874520"/>
            <a:ext cx="566928" cy="566928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770632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2770632" y="2468880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069848" y="1563624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V(J)   V(J+1)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160520" y="16916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comparan siempre dos casillas vecinas: V(J) y V(J+1).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están al revés, se intercambian.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 una pasada, el mayor quedó al final.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repite hasta que todo el vector queda en orden.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502920" y="379476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4088" y="3867912"/>
            <a:ext cx="7735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llama burbuja porque los valores grandes «suben» hacia el final del vector, uno por pasada.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intercambio necesita AUX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DETALLE QUE SE OLVIDA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931920" cy="868680"/>
          </a:xfrm>
          <a:prstGeom prst="roundRect">
            <a:avLst>
              <a:gd name="adj" fmla="val 7368"/>
            </a:avLst>
          </a:prstGeom>
          <a:solidFill>
            <a:srgbClr val="16203F"/>
          </a:solidFill>
          <a:ln w="12700">
            <a:solidFill>
              <a:srgbClr val="1620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9224" y="1810512"/>
            <a:ext cx="36393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AUX      &lt;-- V(J)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V(J)     &lt;-- V(J + 1)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V(J + 1) &lt;-- AUX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709160" y="1371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B3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691640"/>
            <a:ext cx="3931920" cy="868680"/>
          </a:xfrm>
          <a:prstGeom prst="roundRect">
            <a:avLst>
              <a:gd name="adj" fmla="val 7368"/>
            </a:avLst>
          </a:prstGeom>
          <a:solidFill>
            <a:srgbClr val="16203F"/>
          </a:solidFill>
          <a:ln w="12700">
            <a:solidFill>
              <a:srgbClr val="1620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55464" y="1810512"/>
            <a:ext cx="36393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V(J)     &lt;-- V(J + 1)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V(J + 1) &lt;-- V(J)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el valor original ya se perdio 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88036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33272" y="285292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copia a V(J)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73552" y="288036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73552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803904" y="285292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V(J) toma el vecino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44184" y="288036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44184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574536" y="2852928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vecino toma AUX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2920" y="3611880"/>
            <a:ext cx="8138160" cy="777240"/>
          </a:xfrm>
          <a:prstGeom prst="roundRect">
            <a:avLst>
              <a:gd name="adj" fmla="val 7059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088" y="3685032"/>
            <a:ext cx="77358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AUX, la primera asignación pisa el valor de V(J) y las dos casillas terminan con el mismo número. Es el error más frecuente de todo el tema.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pasada completa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CON V = 5 1 4 2 8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3619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331720" y="1536192"/>
            <a:ext cx="402336" cy="402336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331720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34056" y="1536192"/>
            <a:ext cx="402336" cy="402336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734056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36392" y="1536192"/>
            <a:ext cx="402336" cy="402336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36392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38728" y="1536192"/>
            <a:ext cx="402336" cy="402336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38728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941064" y="1536192"/>
            <a:ext cx="402336" cy="402336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41064" y="1536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203911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1 · cambia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331720" y="2039112"/>
            <a:ext cx="402336" cy="40233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31720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34056" y="2039112"/>
            <a:ext cx="402336" cy="40233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34056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136392" y="2039112"/>
            <a:ext cx="402336" cy="402336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36392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538728" y="2039112"/>
            <a:ext cx="402336" cy="402336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38728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941064" y="2039112"/>
            <a:ext cx="402336" cy="402336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41064" y="2039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254203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2 · cambia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331720" y="2542032"/>
            <a:ext cx="402336" cy="402336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331720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34056" y="2542032"/>
            <a:ext cx="402336" cy="40233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34056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136392" y="2542032"/>
            <a:ext cx="402336" cy="40233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136392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538728" y="2542032"/>
            <a:ext cx="402336" cy="402336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538728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941064" y="2542032"/>
            <a:ext cx="402336" cy="402336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941064" y="2542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304495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3 · cambia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331720" y="3044952"/>
            <a:ext cx="402336" cy="402336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33172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734056" y="3044952"/>
            <a:ext cx="402336" cy="402336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734056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136392" y="3044952"/>
            <a:ext cx="402336" cy="40233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136392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538728" y="3044952"/>
            <a:ext cx="402336" cy="40233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538728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3941064" y="3044952"/>
            <a:ext cx="402336" cy="402336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941064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502920" y="354787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= 4 · no cambia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2331720" y="3547872"/>
            <a:ext cx="402336" cy="402336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33172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2734056" y="3547872"/>
            <a:ext cx="402336" cy="402336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734056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136392" y="3547872"/>
            <a:ext cx="402336" cy="402336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136392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3538728" y="3547872"/>
            <a:ext cx="402336" cy="40233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538728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3941064" y="3547872"/>
            <a:ext cx="402336" cy="402336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941064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846320" y="1536192"/>
            <a:ext cx="3794760" cy="1874520"/>
          </a:xfrm>
          <a:prstGeom prst="roundRect">
            <a:avLst>
              <a:gd name="adj" fmla="val 2927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029200" y="16459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pasó</a:t>
            </a:r>
            <a:endParaRPr lang="en-US" sz="1500" dirty="0"/>
          </a:p>
        </p:txBody>
      </p:sp>
      <p:sp>
        <p:nvSpPr>
          <p:cNvPr id="61" name="Text 59"/>
          <p:cNvSpPr txBox="1"/>
          <p:nvPr/>
        </p:nvSpPr>
        <p:spPr>
          <a:xfrm>
            <a:off x="5029200" y="1975104"/>
            <a:ext cx="3429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comparaciones sobre un vector de cinco. El 8 recorrió el camino hasta la última casilla y ya no se vuelve a mover: en la siguiente pasada solo hay que revisar las cuatro primeras.</a:t>
            </a:r>
            <a:endParaRPr lang="en-US" sz="1300" dirty="0"/>
          </a:p>
        </p:txBody>
      </p:sp>
      <p:sp>
        <p:nvSpPr>
          <p:cNvPr id="62" name="Shape 60"/>
          <p:cNvSpPr/>
          <p:nvPr/>
        </p:nvSpPr>
        <p:spPr>
          <a:xfrm>
            <a:off x="4846320" y="3566160"/>
            <a:ext cx="3794760" cy="685800"/>
          </a:xfrm>
          <a:prstGeom prst="roundRect">
            <a:avLst>
              <a:gd name="adj" fmla="val 8000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047488" y="3639312"/>
            <a:ext cx="339242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pasada NO deja el vector ordenado. Solo garantiza que el mayor llegó al final.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algoritmo completo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CICLOS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4617720" cy="2331720"/>
          </a:xfrm>
          <a:prstGeom prst="roundRect">
            <a:avLst>
              <a:gd name="adj" fmla="val 2745"/>
            </a:avLst>
          </a:prstGeom>
          <a:solidFill>
            <a:srgbClr val="16203F"/>
          </a:solidFill>
          <a:ln w="12700">
            <a:solidFill>
              <a:srgbClr val="162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" y="1536192"/>
            <a:ext cx="4325112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SUBRUTINA burbuja(N, V)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PARA I = 1, N - 1, 1 HAGA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PARA J = 1, N - I, 1 HAGA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SI (V(J) &gt; V(J + 1)) ENTONCES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AUX      &lt;-- V(J)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V(J)     &lt;-- V(J + 1)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V(J + 1) &lt;-- AUX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F_SI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F_PARA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F_PARA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F_SUBRUTINA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760720" y="1417320"/>
            <a:ext cx="2880360" cy="1097280"/>
          </a:xfrm>
          <a:prstGeom prst="roundRect">
            <a:avLst>
              <a:gd name="adj" fmla="val 5000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0" y="151790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externo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810512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las pasadas. Con N elementos bastan N − 1.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760720" y="2651760"/>
            <a:ext cx="2880360" cy="1097280"/>
          </a:xfrm>
          <a:prstGeom prst="roundRect">
            <a:avLst>
              <a:gd name="adj" fmla="val 5000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275234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interno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3044952"/>
            <a:ext cx="2514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las comparaciones de esa pasada, hasta N − I.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931920"/>
            <a:ext cx="8138160" cy="658368"/>
          </a:xfrm>
          <a:prstGeom prst="roundRect">
            <a:avLst>
              <a:gd name="adj" fmla="val 8333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088" y="4005072"/>
            <a:ext cx="77358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en SUBRUTINA: un vector es un conjunto de datos y además queda modificado. Se invoca con EJECUTE burbuja(N, V).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N − 1 y N − I?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LÍMITES QUE SE EQUIVOCAN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39496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30936" y="1463040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Pasada 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2185416" y="1463040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recorre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197096" y="1463040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ordenados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883664"/>
            <a:ext cx="5394960" cy="402336"/>
          </a:xfrm>
          <a:prstGeom prst="rect">
            <a:avLst/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" y="1883664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85416" y="1883664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 a 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197096" y="1883664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286000"/>
            <a:ext cx="5394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" y="2286000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185416" y="2286000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 a 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197096" y="2286000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688336"/>
            <a:ext cx="5394960" cy="402336"/>
          </a:xfrm>
          <a:prstGeom prst="rect">
            <a:avLst/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" y="2688336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2185416" y="2688336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 a 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197096" y="2688336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" y="3090672"/>
            <a:ext cx="539496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0936" y="3090672"/>
            <a:ext cx="13898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185416" y="3090672"/>
            <a:ext cx="1847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1 a 1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197096" y="3090672"/>
            <a:ext cx="1664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360273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 con N = 5. En total, 4 + 3 + 2 + 1 = 10 comparaciones.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080760" y="1463040"/>
            <a:ext cx="2560320" cy="1234440"/>
          </a:xfrm>
          <a:prstGeom prst="roundRect">
            <a:avLst>
              <a:gd name="adj" fmla="val 4444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63640" y="1572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− 1 pasadas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263640" y="1865376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ya hay N − 1 en su sitio, el que sobra queda ordenado solo.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80760" y="2834640"/>
            <a:ext cx="2560320" cy="1417320"/>
          </a:xfrm>
          <a:prstGeom prst="roundRect">
            <a:avLst>
              <a:gd name="adj" fmla="val 3871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63640" y="29443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− I comparaciones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263640" y="3236976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cola ya está ordenada, no hay que volver a mirarla. Y si el interno llegara a N, entonces J + 1 valdría N + 1: te sales del vector.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vector, pasada por pasada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COMPLETA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481328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148840" y="1481328"/>
            <a:ext cx="420624" cy="420624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48840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569464" y="1481328"/>
            <a:ext cx="420624" cy="420624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9464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990088" y="1481328"/>
            <a:ext cx="420624" cy="420624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90088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410712" y="1481328"/>
            <a:ext cx="420624" cy="420624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10712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831336" y="1481328"/>
            <a:ext cx="420624" cy="420624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31336" y="1481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2011680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pasada 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48840" y="2011680"/>
            <a:ext cx="420624" cy="420624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148840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569464" y="2011680"/>
            <a:ext cx="420624" cy="420624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569464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2990088" y="2011680"/>
            <a:ext cx="420624" cy="420624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90088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3410712" y="2011680"/>
            <a:ext cx="420624" cy="420624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410712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3831336" y="2011680"/>
            <a:ext cx="420624" cy="420624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831336" y="2011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2542032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pasada 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148840" y="2542032"/>
            <a:ext cx="420624" cy="420624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14884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2569464" y="2542032"/>
            <a:ext cx="420624" cy="420624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569464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2990088" y="2542032"/>
            <a:ext cx="420624" cy="420624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990088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3410712" y="2542032"/>
            <a:ext cx="420624" cy="420624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10712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3831336" y="2542032"/>
            <a:ext cx="420624" cy="420624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831336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3072384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pasada 3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148840" y="3072384"/>
            <a:ext cx="420624" cy="420624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148840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2569464" y="3072384"/>
            <a:ext cx="420624" cy="420624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569464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2990088" y="3072384"/>
            <a:ext cx="420624" cy="420624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990088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3410712" y="3072384"/>
            <a:ext cx="420624" cy="420624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410712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3831336" y="3072384"/>
            <a:ext cx="420624" cy="420624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831336" y="3072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50" dirty="0"/>
          </a:p>
        </p:txBody>
      </p:sp>
      <p:sp>
        <p:nvSpPr>
          <p:cNvPr id="48" name="Text 46"/>
          <p:cNvSpPr txBox="1"/>
          <p:nvPr/>
        </p:nvSpPr>
        <p:spPr>
          <a:xfrm>
            <a:off x="502920" y="3602736"/>
            <a:ext cx="1508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pasada 4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148840" y="3602736"/>
            <a:ext cx="420624" cy="420624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148840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2569464" y="3602736"/>
            <a:ext cx="420624" cy="420624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569464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2990088" y="3602736"/>
            <a:ext cx="420624" cy="420624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990088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55" name="Shape 53"/>
          <p:cNvSpPr/>
          <p:nvPr/>
        </p:nvSpPr>
        <p:spPr>
          <a:xfrm>
            <a:off x="3410712" y="3602736"/>
            <a:ext cx="420624" cy="420624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410712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57" name="Shape 55"/>
          <p:cNvSpPr/>
          <p:nvPr/>
        </p:nvSpPr>
        <p:spPr>
          <a:xfrm>
            <a:off x="3831336" y="3602736"/>
            <a:ext cx="420624" cy="420624"/>
          </a:xfrm>
          <a:prstGeom prst="rect">
            <a:avLst/>
          </a:prstGeom>
          <a:solidFill>
            <a:srgbClr val="CADCFC"/>
          </a:solidFill>
          <a:ln w="12700">
            <a:solidFill>
              <a:srgbClr val="9FB6E4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831336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50" dirty="0"/>
          </a:p>
        </p:txBody>
      </p:sp>
      <p:sp>
        <p:nvSpPr>
          <p:cNvPr id="59" name="Text 57"/>
          <p:cNvSpPr txBox="1"/>
          <p:nvPr/>
        </p:nvSpPr>
        <p:spPr>
          <a:xfrm>
            <a:off x="2148840" y="4151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oscuro: casillas ya fijas, no se vuelven a comparar.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4663440" y="1481328"/>
            <a:ext cx="3977640" cy="1600200"/>
          </a:xfrm>
          <a:prstGeom prst="roundRect">
            <a:avLst>
              <a:gd name="adj" fmla="val 3429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846320" y="159105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Fíjate en las pasadas 3 y 4</a:t>
            </a:r>
            <a:endParaRPr lang="en-US" sz="1500" dirty="0"/>
          </a:p>
        </p:txBody>
      </p:sp>
      <p:sp>
        <p:nvSpPr>
          <p:cNvPr id="62" name="Text 60"/>
          <p:cNvSpPr txBox="1"/>
          <p:nvPr/>
        </p:nvSpPr>
        <p:spPr>
          <a:xfrm>
            <a:off x="4846320" y="192024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vector ya estaba ordenado desde la pasada 2, pero el algoritmo siguió comparando sin intercambiar nada. Ese trabajo se puede ahorrar.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versión con bandera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PARAR CUANDO YA ESTÁ ORDENADO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846320" cy="3154680"/>
          </a:xfrm>
          <a:prstGeom prst="roundRect">
            <a:avLst>
              <a:gd name="adj" fmla="val 2029"/>
            </a:avLst>
          </a:prstGeom>
          <a:solidFill>
            <a:srgbClr val="16203F"/>
          </a:solidFill>
          <a:ln w="12700">
            <a:solidFill>
              <a:srgbClr val="162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" y="1490472"/>
            <a:ext cx="4553712" cy="2916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SUBRUTINA burbuja_opt(N, V)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    &lt;-- 1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HUBO &lt;-- 1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MQ (I &lt;= N - 1 Y HUBO = 1) HAGA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HUBO &lt;-- 0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PARA J = 1, N - I, 1 HAGA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SI (V(J) &gt; V(J + 1)) ENTONCES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AUX      &lt;-- V(J)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V(J)     &lt;-- V(J + 1)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V(J + 1) &lt;-- AUX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HUBO     &lt;-- 1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F_SI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F_PARA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 &lt;-- I + 1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F_MQ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F_SUBRUTINA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577840" y="1371600"/>
            <a:ext cx="3063240" cy="1508760"/>
          </a:xfrm>
          <a:prstGeom prst="roundRect">
            <a:avLst>
              <a:gd name="adj" fmla="val 3636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0" y="148132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773936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HUBO se pone en 0 al empezar cada pasada. Si nadie la sube a 1, es que no hubo ni un intercambio: el vector ya está ordenado.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577840" y="3017520"/>
            <a:ext cx="3063240" cy="1508760"/>
          </a:xfrm>
          <a:prstGeom prst="roundRect">
            <a:avLst>
              <a:gd name="adj" fmla="val 3636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312724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Ojo con el reinicio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3419856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HUBO &lt;-- 0 va dentro del MQ, no antes. Si lo pones afuera, la bandera nunca se reinicia y el ciclo se detiene tras la primera pasada.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Vectores paralelos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HACE FALTA PARA EL EJERCICIO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5331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vectores son paralelos cuando la posición I de ambos se refiere a la misma persona o cosa. Si mueves uno, tienes que mover el otro en el mismo paso.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011680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CODIGO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779776"/>
            <a:ext cx="1097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PUNTAJE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691640" y="2011680"/>
            <a:ext cx="713232" cy="713232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91640" y="20116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04872" y="2011680"/>
            <a:ext cx="713232" cy="713232"/>
          </a:xfrm>
          <a:prstGeom prst="rect">
            <a:avLst/>
          </a:prstGeom>
          <a:solidFill>
            <a:srgbClr val="FBEEDA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04872" y="20116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1017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18104" y="2011680"/>
            <a:ext cx="713232" cy="713232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18104" y="20116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1099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831336" y="2011680"/>
            <a:ext cx="713232" cy="713232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31336" y="20116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691640" y="2779776"/>
            <a:ext cx="713232" cy="713232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91640" y="277977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404872" y="2779776"/>
            <a:ext cx="713232" cy="713232"/>
          </a:xfrm>
          <a:prstGeom prst="rect">
            <a:avLst/>
          </a:prstGeom>
          <a:solidFill>
            <a:srgbClr val="FBEEDA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04872" y="277977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118104" y="2779776"/>
            <a:ext cx="713232" cy="713232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18104" y="277977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831336" y="2779776"/>
            <a:ext cx="713232" cy="713232"/>
          </a:xfrm>
          <a:prstGeom prst="rect">
            <a:avLst/>
          </a:prstGeom>
          <a:solidFill>
            <a:srgbClr val="EAF1FC"/>
          </a:solidFill>
          <a:ln w="12700">
            <a:solidFill>
              <a:srgbClr val="B9C4D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31336" y="2779776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691640" y="362102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estudiante 1017 y su puntaje de 91 son la misma persona: viajan juntos.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349240" y="2011680"/>
            <a:ext cx="3291840" cy="1600200"/>
          </a:xfrm>
          <a:prstGeom prst="roundRect">
            <a:avLst>
              <a:gd name="adj" fmla="val 4000"/>
            </a:avLst>
          </a:prstGeom>
          <a:solidFill>
            <a:srgbClr val="16203F"/>
          </a:solidFill>
          <a:ln w="12700">
            <a:solidFill>
              <a:srgbClr val="1620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95544" y="2130552"/>
            <a:ext cx="2999232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AUX         &lt;-- PUNT(J)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PUNT(J)     &lt;-- PUNT(J + 1)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PUNT(J + 1) &lt;-- AUX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AUX2        &lt;-- COD(J)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COD(J)      &lt;-- COD(J + 1)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COD(J + 1)  &lt;-- AUX2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886200"/>
            <a:ext cx="8138160" cy="731520"/>
          </a:xfrm>
          <a:prstGeom prst="roundRect">
            <a:avLst>
              <a:gd name="adj" fmla="val 7500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4088" y="3959352"/>
            <a:ext cx="77358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decide con un solo vector (el de los puntajes) pero se intercambian los dos. Ordenar solo uno rompe la correspondencia y los datos quedan mezclados.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errores de siempre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PARCIAL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033272" y="157276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Intercambiar sin AUX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181965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casillas quedan con el mismo valor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033272" y="267004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Interno hasta 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33272" y="291693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+ 1 se sale del vector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79476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33272" y="376732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V(I) con V(J)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033272" y="401421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son vecinos: J y J + 1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709160" y="160020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9160" y="1600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39512" y="157276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Externo hasta 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39512" y="181965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Sobra una pasada: bastan N − 1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709160" y="269748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0916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239512" y="267004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Reiniciar mal la bandera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239512" y="291693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HUBO &lt;-- 0 va dentro del ciclo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09160" y="3794760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0916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239512" y="3767328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un solo paralelo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239512" y="4014216"/>
            <a:ext cx="3310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8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quedan cruzados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de la sesión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DE PROGRAMACIÓN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371600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competencia participan N estudiantes. Se tienen dos vectores paralelos: CODIGO(I) guarda el código del estudiante I y PUNTAJE(I) su puntaje. Escriba un algoritmo que: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96696" y="2148840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 N y luego el código y el puntaje de cada estudiante.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715768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96696" y="2715768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Ordene ambos vectores de mayor a menor puntaje, usando burbuja.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282696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3282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96696" y="3282696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Escriba el podio: los tres primeros con su código y su puntaje.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849624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3849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96696" y="3849624"/>
            <a:ext cx="7589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el promedio de los puntajes e informe cuántos estudiantes lo superan.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44805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subrutinas y funciones donde corresponda. 15 minutos.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 · los módulos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Y PROMEDIAR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074920" cy="2788920"/>
          </a:xfrm>
          <a:prstGeom prst="roundRect">
            <a:avLst>
              <a:gd name="adj" fmla="val 2295"/>
            </a:avLst>
          </a:prstGeom>
          <a:solidFill>
            <a:srgbClr val="16203F"/>
          </a:solidFill>
          <a:ln w="12700">
            <a:solidFill>
              <a:srgbClr val="162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" y="1490472"/>
            <a:ext cx="4782312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SUBRUTINA burbuja_paralelo(N, PUNT, COD)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PARA I = 1, N - 1, 1 HAGA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PARA J = 1, N - I, 1 HAGA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SI (PUNT(J) &lt; PUNT(J + 1)) ENTONCES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AUX         &lt;-- PUNT(J)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PUNT(J)     &lt;-- PUNT(J + 1)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PUNT(J + 1) &lt;-- AUX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AUX2        &lt;-- COD(J)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COD(J)      &lt;-- COD(J + 1)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COD(J + 1)  &lt;-- AUX2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F_SI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F_PARA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F_PARA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F_SUBRUTINA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806440" y="1371600"/>
            <a:ext cx="2834640" cy="1325880"/>
          </a:xfrm>
          <a:prstGeom prst="roundRect">
            <a:avLst>
              <a:gd name="adj" fmla="val 4828"/>
            </a:avLst>
          </a:prstGeom>
          <a:solidFill>
            <a:srgbClr val="16203F"/>
          </a:solidFill>
          <a:ln w="12700">
            <a:solidFill>
              <a:srgbClr val="1620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52744" y="1490472"/>
            <a:ext cx="254203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 promedio(N, V)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 &lt;-- 0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PARA I = 1, N, 1 HAGA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 &lt;-- S + V(I)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F_PARA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promedio &lt;-- S / N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F_FUNCION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806440" y="2834640"/>
            <a:ext cx="2834640" cy="1627632"/>
          </a:xfrm>
          <a:prstGeom prst="roundRect">
            <a:avLst>
              <a:gd name="adj" fmla="val 3933"/>
            </a:avLst>
          </a:prstGeom>
          <a:solidFill>
            <a:srgbClr val="16203F"/>
          </a:solidFill>
          <a:ln w="12700">
            <a:solidFill>
              <a:srgbClr val="1620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52744" y="2953512"/>
            <a:ext cx="254203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FUNCION cuantos_superan(N, V, X)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 &lt;-- 0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PARA I = 1, N, 1 HAGA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SI (V(I) &gt; X) ENTONCES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 &lt;-- C + 1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F_SI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F_PARA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cuantos_superan &lt;-- C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F_FUNCION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4279392"/>
            <a:ext cx="5074920" cy="548640"/>
          </a:xfrm>
          <a:prstGeom prst="roundRect">
            <a:avLst>
              <a:gd name="adj" fmla="val 10000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04088" y="4352544"/>
            <a:ext cx="46725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mayor a menor: lo único que cambia es el signo. En vez de &gt; se compara con &lt;.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 · programa principal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PODIO Y CONTEO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074920" cy="3493008"/>
          </a:xfrm>
          <a:prstGeom prst="roundRect">
            <a:avLst>
              <a:gd name="adj" fmla="val 1832"/>
            </a:avLst>
          </a:prstGeom>
          <a:solidFill>
            <a:srgbClr val="16203F"/>
          </a:solidFill>
          <a:ln w="12700">
            <a:solidFill>
              <a:srgbClr val="1620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9224" y="1444752"/>
            <a:ext cx="4782312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INICIO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LEA N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PARA I = 1, N, 1 HAGA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LEA COD(I), PUNT(I)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F_PARA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EJECUTE burbuja_paralelo(N, PUNT, COD)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ESCRIBA "Podio:"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SI (N &gt;= 3) ENTONCES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PARA I = 1, 3, 1 HAGA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ESCRIBA I, " lugar: ", COD(I), PUNT(I)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F_PARA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F_SI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PROM &lt;-- promedio(N, PUNT)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SUP  &lt;-- cuantos_superan(N, PUNT, PROM)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ESCRIBA "Promedio: ", PROM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ESCRIBA "Sobre el promedio: ", SUP</a:t>
            </a:r>
            <a:endParaRPr lang="en-US" sz="9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DCE6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806440" y="1371600"/>
            <a:ext cx="2834640" cy="1417320"/>
          </a:xfrm>
          <a:prstGeom prst="roundRect">
            <a:avLst>
              <a:gd name="adj" fmla="val 3871"/>
            </a:avLst>
          </a:prstGeom>
          <a:solidFill>
            <a:srgbClr val="EAF1FC"/>
          </a:solidFill>
          <a:ln w="12700">
            <a:solidFill>
              <a:srgbClr val="EAF1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89320" y="14813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podio sale gratis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989320" y="1773936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el vector quedó ordenado de mayor a menor, los tres primeros son las posiciones 1, 2 y 3. No hay que buscar nada.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06440" y="2926080"/>
            <a:ext cx="2834640" cy="1783080"/>
          </a:xfrm>
          <a:prstGeom prst="roundRect">
            <a:avLst>
              <a:gd name="adj" fmla="val 3077"/>
            </a:avLst>
          </a:prstGeom>
          <a:solidFill>
            <a:srgbClr val="FBEEDA"/>
          </a:solidFill>
          <a:ln w="12700">
            <a:solidFill>
              <a:srgbClr val="FBEE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3035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detalles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3328416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 (N &gt;= 3) evita leer posiciones que no existen si hay menos de tres participantes.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D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como está ordenado, el conteo también podría hacerse con un MQ que se detenga en el primero que no supera el promedio.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10896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practicar en casa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9692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508760"/>
            <a:ext cx="5852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un vector de menor a mayor e informar cuántos intercambios hizo el algoritmo.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solo la primera mitad del vector, dejando la segunda intacta.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dos vectores ya ordenados, construir un tercero también ordenado.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Ordenar un vector de nombres alfabéticamente, comparando cadenas.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Modificar el burbuja para que ordene únicamente las posiciones pares.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0" y="1508760"/>
            <a:ext cx="2057400" cy="2057400"/>
          </a:xfrm>
          <a:prstGeom prst="roundRect">
            <a:avLst>
              <a:gd name="adj" fmla="val 2667"/>
            </a:avLst>
          </a:prstGeom>
          <a:solidFill>
            <a:srgbClr val="2C3A78"/>
          </a:solidFill>
          <a:ln w="12700">
            <a:solidFill>
              <a:srgbClr val="2C3A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83680" y="16916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260604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¿Preguntas?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2026-09-04T03:09:33Z</dcterms:created>
  <dcterms:modified xsi:type="dcterms:W3CDTF">2026-09-04T03:09:33Z</dcterms:modified>
</cp:coreProperties>
</file>