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sesión. Duración estimada: 60-75 minutos. Todo se trabaja en pseudocódigo con la sintaxis del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mostrando que todo lo que ya saben de vectores sigue sirviendo: solo se envuelve en otro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Arrancar aquí siempre: si el vector no está claro, la matriz no va a estarlo. Recordar base 1 en pseudocódigo frente a base 0 en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el tablero en el tablero real y pedirle a un estudiante que señale M(3,1)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fila más importante es la última: una matriz sirve cuando cada fila es un registro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se invierte el anidamiento se recorre por columnas: también es válido, pero es otra cosa. Preguntarles cuál sale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Escribir en el tablero la salida esperada de una matriz 2x3 y preguntarles dónde va el salto de línea antes de mostrarlo.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la función devuelve un solo valor por su nombre. En cuanto se piden fila y columna, cambia la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 = 0 funciona como bandera y como respuesta: si al final vale 0, el valor no estaba.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Preguntarles primero qué pasaría si se borrara una sola casilla. Suelen darse cuenta solos de que la fila queda coja.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mismo algoritmo de eliminación en vectores, solo que se corre una fila entera en vez de un elemento.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Triangular superior: J &gt; I. Triangular inferior: J &lt; I. Truco: arrancar el PARA interno en I+1 en vez de poner un SI adentro.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esquinas y el borde sí funcionan en matrices no cuadradas. Las diagonales no: siempre validar F = C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funciones se escriben una vez y se reutilizan dentro de cualquier recorrido de matriz. Ese es el mensaje.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10 minutos para que lo intenten solos antes de mostrar la solución. La discusión sobre el índice es el objetivo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esta lista al cierre. Vale la pena atacarla en cada sesión, sin importar el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recordando la regla de oro: conjunto de datos, SUBRUTINA; base 1 en pseudocódigo, base 0 en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105156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56248" y="1051560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23176" y="1051560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0104" y="1051560"/>
            <a:ext cx="566928" cy="566928"/>
          </a:xfrm>
          <a:prstGeom prst="rect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1618488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56248" y="1618488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23176" y="1618488"/>
            <a:ext cx="566928" cy="566928"/>
          </a:xfrm>
          <a:prstGeom prst="rect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0104" y="1618488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2185416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2185416"/>
            <a:ext cx="566928" cy="566928"/>
          </a:xfrm>
          <a:prstGeom prst="rect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23176" y="2185416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0104" y="2185416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752344"/>
            <a:ext cx="566928" cy="566928"/>
          </a:xfrm>
          <a:prstGeom prst="rect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2752344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3176" y="2752344"/>
            <a:ext cx="5669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0104" y="2752344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1508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395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bidimensionales, paso a paso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Monitoría · Algoritmia y Programación II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Norte · Todo en pseudocódigo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veremos hoy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matriz?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directa con los vectores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PARA anidados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¿Está? ¿Dónde? ¿Cuántas veces?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y física, con corrimiento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Diagonales, esquinas y borde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fórmulas que caen en parcial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3951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Primos, perfectos y amigos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3951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integradores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vector es una fila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865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61288" y="1691640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3865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19656" y="1691640"/>
            <a:ext cx="658368" cy="65836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19656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19656" y="23865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78024" y="1691640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78024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478024" y="23865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73405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V(3) = 9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6459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dimensión: los casilleros van en línea.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un número para llegar a cualquiera: la posición.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 completo con un único ciclo PARA.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pseudocódigo el primer elemento es V(1), no V(0).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3867912"/>
            <a:ext cx="7735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mismo casillero en Java es V[2]. El desfase entre base 1 y base 0 es el error de traducción número uno.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matriz es un tablero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6968" y="14721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545336" y="14721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j=2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203704" y="14721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j=3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78308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44144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09981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" y="1783080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45336" y="1783080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4533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03704" y="1783080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03704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6968" y="2441448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2441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45336" y="2441448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45336" y="2441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203704" y="2441448"/>
            <a:ext cx="658368" cy="65836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03704" y="2441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6968" y="3099816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45336" y="3099816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45336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203704" y="3099816"/>
            <a:ext cx="658368" cy="65836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03704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1572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M(fila, columna)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21031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dimensiones: hacen falta dos números.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M(2,3) = 6 → fila 2, columna 3.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 completa con dos PARA anidados.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60520" y="3310128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61688" y="3383280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fila primero. M(2,3) y M(3,2) son casillas distintas.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frente a matriz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DIRECTA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89504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24144" y="1481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8138160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193852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889504" y="19385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724144" y="19385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359152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235915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accede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9504" y="23591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V(i)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724144" y="23591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M(i, j)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779776"/>
            <a:ext cx="8138160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" y="27797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889504" y="27797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724144" y="27797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1..F, columnas 1..C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" y="320040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2889504" y="32004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elementos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724144" y="3200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× C elementos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621024"/>
            <a:ext cx="8138160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" y="362102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recorrerlo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2889504" y="36210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724144" y="362102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PARA anidados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4041648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" y="404164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2889504" y="40416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un estudiante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724144" y="40416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todo el curso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568696" y="1938528"/>
            <a:ext cx="13716" cy="2523744"/>
          </a:xfrm>
          <a:prstGeom prst="rect">
            <a:avLst/>
          </a:prstGeom>
          <a:solidFill>
            <a:srgbClr val="D3DCEF"/>
          </a:solidFill>
          <a:ln w="12700">
            <a:solidFill>
              <a:srgbClr val="D3DCE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vector de vectores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CLAVE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fijas la fila y mueves la columna, estás recorriendo un vector normal. Todo lo que ya sabes sigue funcionando: solo lo envuelves en un PARA externo.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160520" cy="1234440"/>
          </a:xfrm>
          <a:prstGeom prst="roundRect">
            <a:avLst>
              <a:gd name="adj" fmla="val 5185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2084832"/>
            <a:ext cx="38679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= 1, F, 1 HAGA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J = 1, C, 1 HAGA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 M(I, J) ...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F_PARA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3474720"/>
            <a:ext cx="3758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adentro gira rápido. El de afuera cambia solo cuando el de adentro terminó.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visita en una matriz 2 × 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2286000"/>
            <a:ext cx="1133856" cy="45720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6D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28600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M(1,1)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3912" y="2286000"/>
            <a:ext cx="1133856" cy="45720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6D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53912" y="228600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M(1,2)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15784" y="2286000"/>
            <a:ext cx="1133856" cy="45720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6D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15784" y="228600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M(1,3)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852928"/>
            <a:ext cx="1133856" cy="457200"/>
          </a:xfrm>
          <a:prstGeom prst="roundRect">
            <a:avLst>
              <a:gd name="adj" fmla="val 10000"/>
            </a:avLst>
          </a:prstGeom>
          <a:solidFill>
            <a:srgbClr val="FBEEDA"/>
          </a:solidFill>
          <a:ln w="12700">
            <a:solidFill>
              <a:srgbClr val="EDD2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85292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M(2,1)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53912" y="2852928"/>
            <a:ext cx="1133856" cy="457200"/>
          </a:xfrm>
          <a:prstGeom prst="roundRect">
            <a:avLst>
              <a:gd name="adj" fmla="val 10000"/>
            </a:avLst>
          </a:prstGeom>
          <a:solidFill>
            <a:srgbClr val="FBEEDA"/>
          </a:solidFill>
          <a:ln w="12700">
            <a:solidFill>
              <a:srgbClr val="EDD2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53912" y="285292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M(2,2)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15784" y="2852928"/>
            <a:ext cx="1133856" cy="457200"/>
          </a:xfrm>
          <a:prstGeom prst="roundRect">
            <a:avLst>
              <a:gd name="adj" fmla="val 10000"/>
            </a:avLst>
          </a:prstGeom>
          <a:solidFill>
            <a:srgbClr val="FBEEDA"/>
          </a:solidFill>
          <a:ln w="12700">
            <a:solidFill>
              <a:srgbClr val="EDD2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15784" y="285292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M(2,3)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1 completa, luego fila 2.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y escritura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SUBRUTINAS BASE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114800" cy="1691640"/>
          </a:xfrm>
          <a:prstGeom prst="roundRect">
            <a:avLst>
              <a:gd name="adj" fmla="val 3784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536192"/>
            <a:ext cx="382219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leamatriz(F, C, MAT)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F, 1 HAGA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J = 1, C, 1 HAGA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LEA MAT(I, J)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1417320"/>
            <a:ext cx="3703320" cy="1691640"/>
          </a:xfrm>
          <a:prstGeom prst="roundRect">
            <a:avLst>
              <a:gd name="adj" fmla="val 3784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84064" y="1536192"/>
            <a:ext cx="3410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escribamatriz(F, C, MAT)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F, 1 HAGA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J = 1, C, 1 HAGA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ESCRIBA MAT(I, J)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ESCRIBA salto_de_linea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3364992"/>
            <a:ext cx="7735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de línea va al terminar la fila, fuera del PARA interno. Ponerlo adentro imprime la matriz en columna: es el error clásico.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4142232"/>
            <a:ext cx="7735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una matriz es un conjunto de datos → siempre SUBRUTINA, invocada con EJECUTE. Nunca FUNCION.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Búsqueda: ¿está o no está?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 DISTINTAS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297680" cy="2377440"/>
          </a:xfrm>
          <a:prstGeom prst="roundRect">
            <a:avLst>
              <a:gd name="adj" fmla="val 2692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536192"/>
            <a:ext cx="400507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 esta(F, C, MAT, X)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ENC &lt;-- 0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F, 1 HAGA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J = 1, C, 1 HAGA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SI (MAT(I, J) = X) ENTONCES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ENC &lt;-- 1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F_SI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esta &lt;-- ENC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F_FUNCION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48132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1453896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59552" y="170078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 que retorna 0 ó 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0" y="221284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59552" y="2185416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59552" y="243230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SUBRUTINA: devuelve fila y columna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0" y="294436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2916936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veces?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59552" y="316382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 con contador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0" y="3639312"/>
            <a:ext cx="3611880" cy="731520"/>
          </a:xfrm>
          <a:prstGeom prst="roundRect">
            <a:avLst>
              <a:gd name="adj" fmla="val 75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30368" y="3712464"/>
            <a:ext cx="3209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salidas no caben en una FUNCION. Por eso la posición se resuelve con SUBRUTINA.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está? Parar al hallarlo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CON MQ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709160" cy="3108960"/>
          </a:xfrm>
          <a:prstGeom prst="roundRect">
            <a:avLst>
              <a:gd name="adj" fmla="val 2059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490472"/>
            <a:ext cx="44165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buscar_pos(F, C, MAT, X, FI, CO)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 &lt;-- 0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 &lt;-- 0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  &lt;-- 1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MQ (I &lt;= F Y FI = 0)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 &lt;-- 1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MQ (J &lt;= C Y FI = 0)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SI (MAT(I, J) = X) ENTONCES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 &lt;-- I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 &lt;-- J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F_SI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J &lt;-- J + 1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F_MQ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 &lt;-- I + 1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F_MQ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40680" y="1371600"/>
            <a:ext cx="3200400" cy="1417320"/>
          </a:xfrm>
          <a:prstGeom prst="roundRect">
            <a:avLst>
              <a:gd name="adj" fmla="val 3871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2356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77393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toda la matriz aunque ya haya encontrado el valor. Correcto, pero desperdicia pasos.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40680" y="2926080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3035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3328416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detiene en la primera ocurrencia. Es la que piden cuando el enunciado dice «la primera vez que aparece».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borra una casilla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533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borras M(2,3), la matriz deja de ser rectangular. Solo hay dos caminos posibles: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lógica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marca la casilla con un centinela acordado (normalmente 0). La matriz conserva su tamaño; el dato queda anulado.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3474720" cy="411480"/>
          </a:xfrm>
          <a:prstGeom prst="roundRect">
            <a:avLst>
              <a:gd name="adj" fmla="val 15556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363931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MAT(I, J) &lt;-- 0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física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331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quita una fila o una columna completa: se corren los elementos hacia atrás y se reduce F (o C).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520440"/>
            <a:ext cx="3474720" cy="411480"/>
          </a:xfrm>
          <a:prstGeom prst="roundRect">
            <a:avLst>
              <a:gd name="adj" fmla="val 15556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4064" y="363931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&lt;-- F - 1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una fila: la traza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CORRIMIENTO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874520"/>
          </a:xfrm>
          <a:prstGeom prst="roundRect">
            <a:avLst>
              <a:gd name="adj" fmla="val 3415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490472"/>
            <a:ext cx="363931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eliminar_fila(F, C, MAT, K)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K, F - 1, 1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J = 1, C, 1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MAT(I, J) &lt;-- MAT(I + 1, J)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 &lt;-- F - 1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342900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3502152"/>
            <a:ext cx="3529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fila queda duplicada en memoria, pero como F ahora vale 2 ningún recorrido la alcanza. Ese es todo el truco.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417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la fila 2 de una matriz 3 × 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47488" y="1874520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4748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31536" y="1874520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315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258568"/>
            <a:ext cx="384048" cy="384048"/>
          </a:xfrm>
          <a:prstGeom prst="rect">
            <a:avLst/>
          </a:prstGeom>
          <a:solidFill>
            <a:srgbClr val="FBEE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47488" y="2258568"/>
            <a:ext cx="384048" cy="384048"/>
          </a:xfrm>
          <a:prstGeom prst="rect">
            <a:avLst/>
          </a:prstGeom>
          <a:solidFill>
            <a:srgbClr val="FBEE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4748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31536" y="2258568"/>
            <a:ext cx="384048" cy="384048"/>
          </a:xfrm>
          <a:prstGeom prst="rect">
            <a:avLst/>
          </a:prstGeom>
          <a:solidFill>
            <a:srgbClr val="FBEE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31536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642616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47488" y="2642616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47488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31536" y="2642616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31536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2340864"/>
            <a:ext cx="502920" cy="219456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1874520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04888" y="1874520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0488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88936" y="1874520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889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2258568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208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04888" y="2258568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0488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88936" y="2258568"/>
            <a:ext cx="384048" cy="38404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88936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20840" y="264261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208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04888" y="264261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04888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88936" y="264261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88936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663440" y="307238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30723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· F = 2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663440" y="34107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gris ya no existe para el algoritmo.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diagonales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MATRICES CUADRADAS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21792" cy="62179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61872" y="1554480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83664" y="1554480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05456" y="1554480"/>
            <a:ext cx="621792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05456" y="1554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176272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2176272"/>
            <a:ext cx="621792" cy="62179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61872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83664" y="2176272"/>
            <a:ext cx="621792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83664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505456" y="2176272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98064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1872" y="2798064"/>
            <a:ext cx="621792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61872" y="27980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883664" y="2798064"/>
            <a:ext cx="621792" cy="62179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83664" y="27980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505456" y="2798064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419856"/>
            <a:ext cx="621792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4198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261872" y="3419856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83664" y="3419856"/>
            <a:ext cx="621792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05456" y="3419856"/>
            <a:ext cx="621792" cy="62179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05456" y="34198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15727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Diagonal principal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337560" y="1901952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83864" y="2020824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= 1, N, 1 HAGA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ESCRIBA MAT(I, I)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F_PARA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337560" y="28163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Diagonal secundaria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3337560" y="3145536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83864" y="3264408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= 1, N, 1 HAGA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ESCRIBA MAT(I, N - I + 1)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F_PARA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" y="4233672"/>
            <a:ext cx="7735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Verifícala con N = 4:  I=1→J=4,  I=2→J=3,  I=3→J=2,  I=4→J=1.  Sin el «+1» se cae por uno.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Esquinas y borde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 PARCIALES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1600200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936" y="1600200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1600200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60020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67128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2167128"/>
            <a:ext cx="566928" cy="566928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3936" y="2167128"/>
            <a:ext cx="566928" cy="566928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2167128"/>
            <a:ext cx="566928" cy="566928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7792" y="2167128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34056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2734056"/>
            <a:ext cx="566928" cy="566928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3936" y="2734056"/>
            <a:ext cx="566928" cy="566928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0864" y="2734056"/>
            <a:ext cx="566928" cy="566928"/>
          </a:xfrm>
          <a:prstGeom prst="rect">
            <a:avLst/>
          </a:prstGeom>
          <a:solidFill>
            <a:srgbClr val="F7F9FD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07792" y="2734056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00984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7008" y="3300984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3936" y="3300984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0864" y="3300984"/>
            <a:ext cx="566928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7792" y="3300984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941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esquinas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941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1572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esquinas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3794760" y="1901952"/>
            <a:ext cx="4846320" cy="658368"/>
          </a:xfrm>
          <a:prstGeom prst="roundRect">
            <a:avLst>
              <a:gd name="adj" fmla="val 9722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41064" y="202082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MAT(1, 1)      MAT(1, C)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MAT(F, 1)      MAT(F, C)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794760" y="2596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cuatro casillas: no hacen falta ciclos.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29809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borde o marco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794760" y="3310128"/>
            <a:ext cx="4846320" cy="868680"/>
          </a:xfrm>
          <a:prstGeom prst="roundRect">
            <a:avLst>
              <a:gd name="adj" fmla="val 7368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41064" y="3429000"/>
            <a:ext cx="45537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(I = 1 O I = F O J = 1 O J = C)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ESCRIBA MAT(I, J)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F_SI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Primos, perfectos y amigos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LADRILLOS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87752" cy="1874520"/>
          </a:xfrm>
          <a:prstGeom prst="roundRect">
            <a:avLst>
              <a:gd name="adj" fmla="val 2927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727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3 · 5 · 7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482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exactamente dos divisores. Cuidado: 0, 1 y los negativos no lo son.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3552" y="1417320"/>
            <a:ext cx="2587752" cy="1874520"/>
          </a:xfrm>
          <a:prstGeom prst="roundRect">
            <a:avLst>
              <a:gd name="adj" fmla="val 2927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15727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= 1+2+3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0482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237744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sus divisores propios da el mismo número. También 28 y 496.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44184" y="1417320"/>
            <a:ext cx="2587752" cy="1874520"/>
          </a:xfrm>
          <a:prstGeom prst="roundRect">
            <a:avLst>
              <a:gd name="adj" fmla="val 2927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7064" y="15727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 ↔ 284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20482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Amigos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237744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es la suma de los divisores propios del otro.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8138160" cy="1325880"/>
          </a:xfrm>
          <a:prstGeom prst="roundRect">
            <a:avLst>
              <a:gd name="adj" fmla="val 4828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3547872"/>
            <a:ext cx="7845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 sumadiv(N)              { ladrillo comun: perfectos y amigos }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 &lt;-- 0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D = 1, N - 1, 1 HAGA    { propios: hasta N-1, no hasta N }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(N MOD D = 0) ENTONCES  S &lt;-- S + D  F_SI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sumadiv &lt;-- 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F_FUNCION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ejercicio de la sesión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TODA FILA SIN PRIMOS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2286000"/>
          </a:xfrm>
          <a:prstGeom prst="roundRect">
            <a:avLst>
              <a:gd name="adj" fmla="val 2800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536192"/>
            <a:ext cx="478231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depurar_matriz(F, C, MAT)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 &lt;-- 1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MQ (I &lt;= F) HAGA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(fila_tiene_primo(C, MAT, I) = 0) ENTONCES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EJECUTE eliminar_fila(F, C, MAT, I)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SINO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 &lt;-- I + 1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F_SI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F_MQ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06440" y="1417320"/>
            <a:ext cx="2834640" cy="2286000"/>
          </a:xfrm>
          <a:prstGeom prst="roundRect">
            <a:avLst>
              <a:gd name="adj" fmla="val 2400"/>
            </a:avLst>
          </a:prstGeom>
          <a:solidFill>
            <a:srgbClr val="2C3A78"/>
          </a:solidFill>
          <a:ln w="12700">
            <a:solidFill>
              <a:srgbClr val="2C3A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MQ y no PARA?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2103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eliminar la fila I, la siguiente se corre hacia arriba y queda justo en la posición I. Si incrementas I, te la saltas sin revisarla.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4005072"/>
            <a:ext cx="7735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 &lt;-- I + 1 va únicamente en el SINO. Con un PARA este algoritmo es imposible de escribir bien.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de siempre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PARCIAL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M(i, j)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matrices cuadradas a veces «funciona»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F con 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 externo va a F, el interno a 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secundaria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N − I + 1, no N − 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Diagonales sin validar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existen si F = 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 mal ubicado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fila va dentro; total va fuera de ambos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3951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 que devuelve matriz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3951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datos → SUBRUTINA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practicar en casa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si una matriz cuadrada es simétrica: M(i,j) = M(j,i).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cuántos números perfectos hay en la triangular inferior.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cada elemento del borde por la suma de sus divisores propios.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vector con todos los primos de la matriz e informar cuántos son.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 una matriz cuadrada es un cuadrado mágico.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08760"/>
            <a:ext cx="2057400" cy="2057400"/>
          </a:xfrm>
          <a:prstGeom prst="roundRect">
            <a:avLst>
              <a:gd name="adj" fmla="val 2667"/>
            </a:avLst>
          </a:prstGeom>
          <a:solidFill>
            <a:srgbClr val="2C3A78"/>
          </a:solidFill>
          <a:ln w="12700">
            <a:solidFill>
              <a:srgbClr val="2C3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691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2026-09-03T01:50:54Z</dcterms:created>
  <dcterms:modified xsi:type="dcterms:W3CDTF">2026-09-03T01:50:54Z</dcterms:modified>
</cp:coreProperties>
</file>